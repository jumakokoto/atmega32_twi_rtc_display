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73" r:id="rId6"/>
    <p:sldId id="262" r:id="rId7"/>
    <p:sldId id="263" r:id="rId8"/>
    <p:sldId id="264" r:id="rId9"/>
    <p:sldId id="265" r:id="rId10"/>
    <p:sldId id="266" r:id="rId11"/>
    <p:sldId id="267" r:id="rId12"/>
    <p:sldId id="269" r:id="rId13"/>
    <p:sldId id="270"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7AF27-D861-7D26-40A0-AE6F939FFC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81B8DE-3908-186E-BAE9-CB201E0265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854E09-2D8D-513F-015A-BBCF58183A4E}"/>
              </a:ext>
            </a:extLst>
          </p:cNvPr>
          <p:cNvSpPr>
            <a:spLocks noGrp="1"/>
          </p:cNvSpPr>
          <p:nvPr>
            <p:ph type="dt" sz="half" idx="10"/>
          </p:nvPr>
        </p:nvSpPr>
        <p:spPr/>
        <p:txBody>
          <a:bodyPr/>
          <a:lstStyle/>
          <a:p>
            <a:fld id="{2ADB6663-1568-4BD6-9C4B-D1F0ABC3FD5A}" type="datetimeFigureOut">
              <a:rPr lang="en-US" smtClean="0"/>
              <a:t>7/2/2026</a:t>
            </a:fld>
            <a:endParaRPr lang="en-US"/>
          </a:p>
        </p:txBody>
      </p:sp>
      <p:sp>
        <p:nvSpPr>
          <p:cNvPr id="5" name="Footer Placeholder 4">
            <a:extLst>
              <a:ext uri="{FF2B5EF4-FFF2-40B4-BE49-F238E27FC236}">
                <a16:creationId xmlns:a16="http://schemas.microsoft.com/office/drawing/2014/main" id="{1A0D05A5-549E-41DC-66D0-672EB30615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733D7-6948-A64F-73F6-5B7F8904DCE6}"/>
              </a:ext>
            </a:extLst>
          </p:cNvPr>
          <p:cNvSpPr>
            <a:spLocks noGrp="1"/>
          </p:cNvSpPr>
          <p:nvPr>
            <p:ph type="sldNum" sz="quarter" idx="12"/>
          </p:nvPr>
        </p:nvSpPr>
        <p:spPr/>
        <p:txBody>
          <a:bodyPr/>
          <a:lstStyle/>
          <a:p>
            <a:fld id="{550A0830-8787-4AF0-A068-D595A9C9BC91}" type="slidenum">
              <a:rPr lang="en-US" smtClean="0"/>
              <a:t>‹#›</a:t>
            </a:fld>
            <a:endParaRPr lang="en-US"/>
          </a:p>
        </p:txBody>
      </p:sp>
    </p:spTree>
    <p:extLst>
      <p:ext uri="{BB962C8B-B14F-4D97-AF65-F5344CB8AC3E}">
        <p14:creationId xmlns:p14="http://schemas.microsoft.com/office/powerpoint/2010/main" val="2995332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94E72-FC8E-0E26-8E57-CF1DDA22A0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793CC5-FDC3-9F56-AEFC-A7E076724E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601DD9-D953-57F8-387C-F7EC80863334}"/>
              </a:ext>
            </a:extLst>
          </p:cNvPr>
          <p:cNvSpPr>
            <a:spLocks noGrp="1"/>
          </p:cNvSpPr>
          <p:nvPr>
            <p:ph type="dt" sz="half" idx="10"/>
          </p:nvPr>
        </p:nvSpPr>
        <p:spPr/>
        <p:txBody>
          <a:bodyPr/>
          <a:lstStyle/>
          <a:p>
            <a:fld id="{2ADB6663-1568-4BD6-9C4B-D1F0ABC3FD5A}" type="datetimeFigureOut">
              <a:rPr lang="en-US" smtClean="0"/>
              <a:t>7/2/2026</a:t>
            </a:fld>
            <a:endParaRPr lang="en-US"/>
          </a:p>
        </p:txBody>
      </p:sp>
      <p:sp>
        <p:nvSpPr>
          <p:cNvPr id="5" name="Footer Placeholder 4">
            <a:extLst>
              <a:ext uri="{FF2B5EF4-FFF2-40B4-BE49-F238E27FC236}">
                <a16:creationId xmlns:a16="http://schemas.microsoft.com/office/drawing/2014/main" id="{6B97355F-73F6-098B-1FBD-307965AFCD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A22B28-400A-5ED5-237F-9A613834EE96}"/>
              </a:ext>
            </a:extLst>
          </p:cNvPr>
          <p:cNvSpPr>
            <a:spLocks noGrp="1"/>
          </p:cNvSpPr>
          <p:nvPr>
            <p:ph type="sldNum" sz="quarter" idx="12"/>
          </p:nvPr>
        </p:nvSpPr>
        <p:spPr/>
        <p:txBody>
          <a:bodyPr/>
          <a:lstStyle/>
          <a:p>
            <a:fld id="{550A0830-8787-4AF0-A068-D595A9C9BC91}" type="slidenum">
              <a:rPr lang="en-US" smtClean="0"/>
              <a:t>‹#›</a:t>
            </a:fld>
            <a:endParaRPr lang="en-US"/>
          </a:p>
        </p:txBody>
      </p:sp>
    </p:spTree>
    <p:extLst>
      <p:ext uri="{BB962C8B-B14F-4D97-AF65-F5344CB8AC3E}">
        <p14:creationId xmlns:p14="http://schemas.microsoft.com/office/powerpoint/2010/main" val="1704794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ED3FA-CE6F-92AE-15EF-B0D6443F74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ADA7C2-3651-E944-048B-6DB0AA245F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1EAAB1-31BB-B488-D761-56CF0E1FB65D}"/>
              </a:ext>
            </a:extLst>
          </p:cNvPr>
          <p:cNvSpPr>
            <a:spLocks noGrp="1"/>
          </p:cNvSpPr>
          <p:nvPr>
            <p:ph type="dt" sz="half" idx="10"/>
          </p:nvPr>
        </p:nvSpPr>
        <p:spPr/>
        <p:txBody>
          <a:bodyPr/>
          <a:lstStyle/>
          <a:p>
            <a:fld id="{2ADB6663-1568-4BD6-9C4B-D1F0ABC3FD5A}" type="datetimeFigureOut">
              <a:rPr lang="en-US" smtClean="0"/>
              <a:t>7/2/2026</a:t>
            </a:fld>
            <a:endParaRPr lang="en-US"/>
          </a:p>
        </p:txBody>
      </p:sp>
      <p:sp>
        <p:nvSpPr>
          <p:cNvPr id="5" name="Footer Placeholder 4">
            <a:extLst>
              <a:ext uri="{FF2B5EF4-FFF2-40B4-BE49-F238E27FC236}">
                <a16:creationId xmlns:a16="http://schemas.microsoft.com/office/drawing/2014/main" id="{ADE8059F-DD4B-2763-D387-8CE903924C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076238-558B-6D58-B460-E054D14F715A}"/>
              </a:ext>
            </a:extLst>
          </p:cNvPr>
          <p:cNvSpPr>
            <a:spLocks noGrp="1"/>
          </p:cNvSpPr>
          <p:nvPr>
            <p:ph type="sldNum" sz="quarter" idx="12"/>
          </p:nvPr>
        </p:nvSpPr>
        <p:spPr/>
        <p:txBody>
          <a:bodyPr/>
          <a:lstStyle/>
          <a:p>
            <a:fld id="{550A0830-8787-4AF0-A068-D595A9C9BC91}" type="slidenum">
              <a:rPr lang="en-US" smtClean="0"/>
              <a:t>‹#›</a:t>
            </a:fld>
            <a:endParaRPr lang="en-US"/>
          </a:p>
        </p:txBody>
      </p:sp>
    </p:spTree>
    <p:extLst>
      <p:ext uri="{BB962C8B-B14F-4D97-AF65-F5344CB8AC3E}">
        <p14:creationId xmlns:p14="http://schemas.microsoft.com/office/powerpoint/2010/main" val="975328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05E66-657F-607C-2A79-54725B55FE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F6BB08-84B7-DBF0-CE1E-24F2F91497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CCEE9A-35F4-A4EE-4A50-C3517EA4D1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561BAE-7E28-D1FB-C767-D1CA3AACC392}"/>
              </a:ext>
            </a:extLst>
          </p:cNvPr>
          <p:cNvSpPr>
            <a:spLocks noGrp="1"/>
          </p:cNvSpPr>
          <p:nvPr>
            <p:ph type="dt" sz="half" idx="10"/>
          </p:nvPr>
        </p:nvSpPr>
        <p:spPr/>
        <p:txBody>
          <a:bodyPr/>
          <a:lstStyle/>
          <a:p>
            <a:fld id="{2ADB6663-1568-4BD6-9C4B-D1F0ABC3FD5A}" type="datetimeFigureOut">
              <a:rPr lang="en-US" smtClean="0"/>
              <a:t>7/2/2026</a:t>
            </a:fld>
            <a:endParaRPr lang="en-US"/>
          </a:p>
        </p:txBody>
      </p:sp>
      <p:sp>
        <p:nvSpPr>
          <p:cNvPr id="6" name="Footer Placeholder 5">
            <a:extLst>
              <a:ext uri="{FF2B5EF4-FFF2-40B4-BE49-F238E27FC236}">
                <a16:creationId xmlns:a16="http://schemas.microsoft.com/office/drawing/2014/main" id="{840B0062-9327-98ED-7E7B-E9B7F211FC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DC0B84-B276-17F2-8A6B-F2CC47AB6FB5}"/>
              </a:ext>
            </a:extLst>
          </p:cNvPr>
          <p:cNvSpPr>
            <a:spLocks noGrp="1"/>
          </p:cNvSpPr>
          <p:nvPr>
            <p:ph type="sldNum" sz="quarter" idx="12"/>
          </p:nvPr>
        </p:nvSpPr>
        <p:spPr/>
        <p:txBody>
          <a:bodyPr/>
          <a:lstStyle/>
          <a:p>
            <a:fld id="{550A0830-8787-4AF0-A068-D595A9C9BC91}" type="slidenum">
              <a:rPr lang="en-US" smtClean="0"/>
              <a:t>‹#›</a:t>
            </a:fld>
            <a:endParaRPr lang="en-US"/>
          </a:p>
        </p:txBody>
      </p:sp>
    </p:spTree>
    <p:extLst>
      <p:ext uri="{BB962C8B-B14F-4D97-AF65-F5344CB8AC3E}">
        <p14:creationId xmlns:p14="http://schemas.microsoft.com/office/powerpoint/2010/main" val="3955518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CF20E-64EE-5D44-BD0C-857F1A3FEA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477E85-5032-F26D-76CD-0439C27ECB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AFBB61-537E-E5B9-BC44-2C997B23BE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C76194-63EB-91B9-B63C-3ADF9CEAC5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A761A0-91DA-73B2-9780-B5D5CA2743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491264-9F84-6FC6-D833-475F40504156}"/>
              </a:ext>
            </a:extLst>
          </p:cNvPr>
          <p:cNvSpPr>
            <a:spLocks noGrp="1"/>
          </p:cNvSpPr>
          <p:nvPr>
            <p:ph type="dt" sz="half" idx="10"/>
          </p:nvPr>
        </p:nvSpPr>
        <p:spPr/>
        <p:txBody>
          <a:bodyPr/>
          <a:lstStyle/>
          <a:p>
            <a:fld id="{2ADB6663-1568-4BD6-9C4B-D1F0ABC3FD5A}" type="datetimeFigureOut">
              <a:rPr lang="en-US" smtClean="0"/>
              <a:t>7/2/2026</a:t>
            </a:fld>
            <a:endParaRPr lang="en-US"/>
          </a:p>
        </p:txBody>
      </p:sp>
      <p:sp>
        <p:nvSpPr>
          <p:cNvPr id="8" name="Footer Placeholder 7">
            <a:extLst>
              <a:ext uri="{FF2B5EF4-FFF2-40B4-BE49-F238E27FC236}">
                <a16:creationId xmlns:a16="http://schemas.microsoft.com/office/drawing/2014/main" id="{B02C15B1-0844-F8C1-641C-C5413886F2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261CDF-A0A9-F377-2AC6-4334151CC238}"/>
              </a:ext>
            </a:extLst>
          </p:cNvPr>
          <p:cNvSpPr>
            <a:spLocks noGrp="1"/>
          </p:cNvSpPr>
          <p:nvPr>
            <p:ph type="sldNum" sz="quarter" idx="12"/>
          </p:nvPr>
        </p:nvSpPr>
        <p:spPr/>
        <p:txBody>
          <a:bodyPr/>
          <a:lstStyle/>
          <a:p>
            <a:fld id="{550A0830-8787-4AF0-A068-D595A9C9BC91}" type="slidenum">
              <a:rPr lang="en-US" smtClean="0"/>
              <a:t>‹#›</a:t>
            </a:fld>
            <a:endParaRPr lang="en-US"/>
          </a:p>
        </p:txBody>
      </p:sp>
    </p:spTree>
    <p:extLst>
      <p:ext uri="{BB962C8B-B14F-4D97-AF65-F5344CB8AC3E}">
        <p14:creationId xmlns:p14="http://schemas.microsoft.com/office/powerpoint/2010/main" val="1226418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FDD14-C139-7916-F00F-522F7F64EE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54E7FA-E81F-B5AD-5987-8409C2FD0A1C}"/>
              </a:ext>
            </a:extLst>
          </p:cNvPr>
          <p:cNvSpPr>
            <a:spLocks noGrp="1"/>
          </p:cNvSpPr>
          <p:nvPr>
            <p:ph type="dt" sz="half" idx="10"/>
          </p:nvPr>
        </p:nvSpPr>
        <p:spPr/>
        <p:txBody>
          <a:bodyPr/>
          <a:lstStyle/>
          <a:p>
            <a:fld id="{2ADB6663-1568-4BD6-9C4B-D1F0ABC3FD5A}" type="datetimeFigureOut">
              <a:rPr lang="en-US" smtClean="0"/>
              <a:t>7/2/2026</a:t>
            </a:fld>
            <a:endParaRPr lang="en-US"/>
          </a:p>
        </p:txBody>
      </p:sp>
      <p:sp>
        <p:nvSpPr>
          <p:cNvPr id="4" name="Footer Placeholder 3">
            <a:extLst>
              <a:ext uri="{FF2B5EF4-FFF2-40B4-BE49-F238E27FC236}">
                <a16:creationId xmlns:a16="http://schemas.microsoft.com/office/drawing/2014/main" id="{ABBDD9B2-6DCC-AF99-0370-263E5D24B2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3468F4-4E06-58E4-DC62-6DE10E45EF91}"/>
              </a:ext>
            </a:extLst>
          </p:cNvPr>
          <p:cNvSpPr>
            <a:spLocks noGrp="1"/>
          </p:cNvSpPr>
          <p:nvPr>
            <p:ph type="sldNum" sz="quarter" idx="12"/>
          </p:nvPr>
        </p:nvSpPr>
        <p:spPr/>
        <p:txBody>
          <a:bodyPr/>
          <a:lstStyle/>
          <a:p>
            <a:fld id="{550A0830-8787-4AF0-A068-D595A9C9BC91}" type="slidenum">
              <a:rPr lang="en-US" smtClean="0"/>
              <a:t>‹#›</a:t>
            </a:fld>
            <a:endParaRPr lang="en-US"/>
          </a:p>
        </p:txBody>
      </p:sp>
    </p:spTree>
    <p:extLst>
      <p:ext uri="{BB962C8B-B14F-4D97-AF65-F5344CB8AC3E}">
        <p14:creationId xmlns:p14="http://schemas.microsoft.com/office/powerpoint/2010/main" val="2948040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6DA12B-ED67-4999-F285-3F44461FED92}"/>
              </a:ext>
            </a:extLst>
          </p:cNvPr>
          <p:cNvSpPr>
            <a:spLocks noGrp="1"/>
          </p:cNvSpPr>
          <p:nvPr>
            <p:ph type="dt" sz="half" idx="10"/>
          </p:nvPr>
        </p:nvSpPr>
        <p:spPr/>
        <p:txBody>
          <a:bodyPr/>
          <a:lstStyle/>
          <a:p>
            <a:fld id="{2ADB6663-1568-4BD6-9C4B-D1F0ABC3FD5A}" type="datetimeFigureOut">
              <a:rPr lang="en-US" smtClean="0"/>
              <a:t>7/2/2026</a:t>
            </a:fld>
            <a:endParaRPr lang="en-US"/>
          </a:p>
        </p:txBody>
      </p:sp>
      <p:sp>
        <p:nvSpPr>
          <p:cNvPr id="3" name="Footer Placeholder 2">
            <a:extLst>
              <a:ext uri="{FF2B5EF4-FFF2-40B4-BE49-F238E27FC236}">
                <a16:creationId xmlns:a16="http://schemas.microsoft.com/office/drawing/2014/main" id="{0561EFB2-8134-2541-5701-2DFFF22608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FF5BEF-D613-3338-82CE-1E8B1F7BC672}"/>
              </a:ext>
            </a:extLst>
          </p:cNvPr>
          <p:cNvSpPr>
            <a:spLocks noGrp="1"/>
          </p:cNvSpPr>
          <p:nvPr>
            <p:ph type="sldNum" sz="quarter" idx="12"/>
          </p:nvPr>
        </p:nvSpPr>
        <p:spPr/>
        <p:txBody>
          <a:bodyPr/>
          <a:lstStyle/>
          <a:p>
            <a:fld id="{550A0830-8787-4AF0-A068-D595A9C9BC91}" type="slidenum">
              <a:rPr lang="en-US" smtClean="0"/>
              <a:t>‹#›</a:t>
            </a:fld>
            <a:endParaRPr lang="en-US"/>
          </a:p>
        </p:txBody>
      </p:sp>
    </p:spTree>
    <p:extLst>
      <p:ext uri="{BB962C8B-B14F-4D97-AF65-F5344CB8AC3E}">
        <p14:creationId xmlns:p14="http://schemas.microsoft.com/office/powerpoint/2010/main" val="3806776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3C55-14B2-179C-7DAA-0734AE6E4B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944B8E-D245-90FE-E861-CC26CFE84E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F5A6F7-E04C-465E-4133-B80C18B1EC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73C68B-2D78-A803-C113-4CF91A10AF01}"/>
              </a:ext>
            </a:extLst>
          </p:cNvPr>
          <p:cNvSpPr>
            <a:spLocks noGrp="1"/>
          </p:cNvSpPr>
          <p:nvPr>
            <p:ph type="dt" sz="half" idx="10"/>
          </p:nvPr>
        </p:nvSpPr>
        <p:spPr/>
        <p:txBody>
          <a:bodyPr/>
          <a:lstStyle/>
          <a:p>
            <a:fld id="{2ADB6663-1568-4BD6-9C4B-D1F0ABC3FD5A}" type="datetimeFigureOut">
              <a:rPr lang="en-US" smtClean="0"/>
              <a:t>7/2/2026</a:t>
            </a:fld>
            <a:endParaRPr lang="en-US"/>
          </a:p>
        </p:txBody>
      </p:sp>
      <p:sp>
        <p:nvSpPr>
          <p:cNvPr id="6" name="Footer Placeholder 5">
            <a:extLst>
              <a:ext uri="{FF2B5EF4-FFF2-40B4-BE49-F238E27FC236}">
                <a16:creationId xmlns:a16="http://schemas.microsoft.com/office/drawing/2014/main" id="{F83998F6-239E-28A4-183B-22B32370C2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2D119-2907-29FE-883F-99FD54BFF1A7}"/>
              </a:ext>
            </a:extLst>
          </p:cNvPr>
          <p:cNvSpPr>
            <a:spLocks noGrp="1"/>
          </p:cNvSpPr>
          <p:nvPr>
            <p:ph type="sldNum" sz="quarter" idx="12"/>
          </p:nvPr>
        </p:nvSpPr>
        <p:spPr/>
        <p:txBody>
          <a:bodyPr/>
          <a:lstStyle/>
          <a:p>
            <a:fld id="{550A0830-8787-4AF0-A068-D595A9C9BC91}" type="slidenum">
              <a:rPr lang="en-US" smtClean="0"/>
              <a:t>‹#›</a:t>
            </a:fld>
            <a:endParaRPr lang="en-US"/>
          </a:p>
        </p:txBody>
      </p:sp>
    </p:spTree>
    <p:extLst>
      <p:ext uri="{BB962C8B-B14F-4D97-AF65-F5344CB8AC3E}">
        <p14:creationId xmlns:p14="http://schemas.microsoft.com/office/powerpoint/2010/main" val="3497663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04CD6-EC6C-7E41-2785-0ED1AF0927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9A018C-8220-18AC-B5D5-AB709E03DF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B3EF9D-1E40-6130-8C9B-2B722E982D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7D8233-039E-943A-0CA0-CC5403EDD7E8}"/>
              </a:ext>
            </a:extLst>
          </p:cNvPr>
          <p:cNvSpPr>
            <a:spLocks noGrp="1"/>
          </p:cNvSpPr>
          <p:nvPr>
            <p:ph type="dt" sz="half" idx="10"/>
          </p:nvPr>
        </p:nvSpPr>
        <p:spPr/>
        <p:txBody>
          <a:bodyPr/>
          <a:lstStyle/>
          <a:p>
            <a:fld id="{2ADB6663-1568-4BD6-9C4B-D1F0ABC3FD5A}" type="datetimeFigureOut">
              <a:rPr lang="en-US" smtClean="0"/>
              <a:t>7/2/2026</a:t>
            </a:fld>
            <a:endParaRPr lang="en-US"/>
          </a:p>
        </p:txBody>
      </p:sp>
      <p:sp>
        <p:nvSpPr>
          <p:cNvPr id="6" name="Footer Placeholder 5">
            <a:extLst>
              <a:ext uri="{FF2B5EF4-FFF2-40B4-BE49-F238E27FC236}">
                <a16:creationId xmlns:a16="http://schemas.microsoft.com/office/drawing/2014/main" id="{446979BF-DF5F-9522-AB53-E7BEBC191E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B29FD9-5E52-3E48-0B55-ECF477BAB6AD}"/>
              </a:ext>
            </a:extLst>
          </p:cNvPr>
          <p:cNvSpPr>
            <a:spLocks noGrp="1"/>
          </p:cNvSpPr>
          <p:nvPr>
            <p:ph type="sldNum" sz="quarter" idx="12"/>
          </p:nvPr>
        </p:nvSpPr>
        <p:spPr/>
        <p:txBody>
          <a:bodyPr/>
          <a:lstStyle/>
          <a:p>
            <a:fld id="{550A0830-8787-4AF0-A068-D595A9C9BC91}" type="slidenum">
              <a:rPr lang="en-US" smtClean="0"/>
              <a:t>‹#›</a:t>
            </a:fld>
            <a:endParaRPr lang="en-US"/>
          </a:p>
        </p:txBody>
      </p:sp>
    </p:spTree>
    <p:extLst>
      <p:ext uri="{BB962C8B-B14F-4D97-AF65-F5344CB8AC3E}">
        <p14:creationId xmlns:p14="http://schemas.microsoft.com/office/powerpoint/2010/main" val="1702860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4FEFD-9D9E-A85B-EDA3-AC14F18E4A6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B3603E-C25F-3EA8-5418-FC8A4E3784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945EB-85B6-F436-63AC-8B1602C064F7}"/>
              </a:ext>
            </a:extLst>
          </p:cNvPr>
          <p:cNvSpPr>
            <a:spLocks noGrp="1"/>
          </p:cNvSpPr>
          <p:nvPr>
            <p:ph type="dt" sz="half" idx="10"/>
          </p:nvPr>
        </p:nvSpPr>
        <p:spPr/>
        <p:txBody>
          <a:bodyPr/>
          <a:lstStyle/>
          <a:p>
            <a:fld id="{2ADB6663-1568-4BD6-9C4B-D1F0ABC3FD5A}" type="datetimeFigureOut">
              <a:rPr lang="en-US" smtClean="0"/>
              <a:t>7/2/2026</a:t>
            </a:fld>
            <a:endParaRPr lang="en-US"/>
          </a:p>
        </p:txBody>
      </p:sp>
      <p:sp>
        <p:nvSpPr>
          <p:cNvPr id="5" name="Footer Placeholder 4">
            <a:extLst>
              <a:ext uri="{FF2B5EF4-FFF2-40B4-BE49-F238E27FC236}">
                <a16:creationId xmlns:a16="http://schemas.microsoft.com/office/drawing/2014/main" id="{FFAFC0E9-E9BC-BB22-1804-7D39B7EE7F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7FD63-9533-2CDC-BEA1-DB15FEF1F408}"/>
              </a:ext>
            </a:extLst>
          </p:cNvPr>
          <p:cNvSpPr>
            <a:spLocks noGrp="1"/>
          </p:cNvSpPr>
          <p:nvPr>
            <p:ph type="sldNum" sz="quarter" idx="12"/>
          </p:nvPr>
        </p:nvSpPr>
        <p:spPr/>
        <p:txBody>
          <a:bodyPr/>
          <a:lstStyle/>
          <a:p>
            <a:fld id="{550A0830-8787-4AF0-A068-D595A9C9BC91}" type="slidenum">
              <a:rPr lang="en-US" smtClean="0"/>
              <a:t>‹#›</a:t>
            </a:fld>
            <a:endParaRPr lang="en-US"/>
          </a:p>
        </p:txBody>
      </p:sp>
    </p:spTree>
    <p:extLst>
      <p:ext uri="{BB962C8B-B14F-4D97-AF65-F5344CB8AC3E}">
        <p14:creationId xmlns:p14="http://schemas.microsoft.com/office/powerpoint/2010/main" val="2697077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6065BE-6E54-BB78-979C-E4DFABC167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107103-BB0E-46D0-4D46-2E74072093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8A4CFD-29B8-437A-D479-FFBC050C208D}"/>
              </a:ext>
            </a:extLst>
          </p:cNvPr>
          <p:cNvSpPr>
            <a:spLocks noGrp="1"/>
          </p:cNvSpPr>
          <p:nvPr>
            <p:ph type="dt" sz="half" idx="10"/>
          </p:nvPr>
        </p:nvSpPr>
        <p:spPr/>
        <p:txBody>
          <a:bodyPr/>
          <a:lstStyle/>
          <a:p>
            <a:fld id="{2ADB6663-1568-4BD6-9C4B-D1F0ABC3FD5A}" type="datetimeFigureOut">
              <a:rPr lang="en-US" smtClean="0"/>
              <a:t>7/2/2026</a:t>
            </a:fld>
            <a:endParaRPr lang="en-US"/>
          </a:p>
        </p:txBody>
      </p:sp>
      <p:sp>
        <p:nvSpPr>
          <p:cNvPr id="5" name="Footer Placeholder 4">
            <a:extLst>
              <a:ext uri="{FF2B5EF4-FFF2-40B4-BE49-F238E27FC236}">
                <a16:creationId xmlns:a16="http://schemas.microsoft.com/office/drawing/2014/main" id="{E9248739-5D0C-BC8B-ECAD-1D4EF91681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16D230-847A-B484-B014-DCC166611966}"/>
              </a:ext>
            </a:extLst>
          </p:cNvPr>
          <p:cNvSpPr>
            <a:spLocks noGrp="1"/>
          </p:cNvSpPr>
          <p:nvPr>
            <p:ph type="sldNum" sz="quarter" idx="12"/>
          </p:nvPr>
        </p:nvSpPr>
        <p:spPr/>
        <p:txBody>
          <a:bodyPr/>
          <a:lstStyle/>
          <a:p>
            <a:fld id="{550A0830-8787-4AF0-A068-D595A9C9BC91}" type="slidenum">
              <a:rPr lang="en-US" smtClean="0"/>
              <a:t>‹#›</a:t>
            </a:fld>
            <a:endParaRPr lang="en-US"/>
          </a:p>
        </p:txBody>
      </p:sp>
    </p:spTree>
    <p:extLst>
      <p:ext uri="{BB962C8B-B14F-4D97-AF65-F5344CB8AC3E}">
        <p14:creationId xmlns:p14="http://schemas.microsoft.com/office/powerpoint/2010/main" val="1989790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0C441A-7812-7C82-4020-0A85C3D562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EE1B85-821A-FC49-4ACE-DF46BD2054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3DF067-951D-704E-AFE9-6C2ADBF03E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DB6663-1568-4BD6-9C4B-D1F0ABC3FD5A}" type="datetimeFigureOut">
              <a:rPr lang="en-US" smtClean="0"/>
              <a:t>7/2/2026</a:t>
            </a:fld>
            <a:endParaRPr lang="en-US"/>
          </a:p>
        </p:txBody>
      </p:sp>
      <p:sp>
        <p:nvSpPr>
          <p:cNvPr id="5" name="Footer Placeholder 4">
            <a:extLst>
              <a:ext uri="{FF2B5EF4-FFF2-40B4-BE49-F238E27FC236}">
                <a16:creationId xmlns:a16="http://schemas.microsoft.com/office/drawing/2014/main" id="{CD04BB2F-FE69-D2DA-5C7B-C2E5488CDB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21E70C-14A1-0CCC-4214-2377E95685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0A0830-8787-4AF0-A068-D595A9C9BC91}" type="slidenum">
              <a:rPr lang="en-US" smtClean="0"/>
              <a:t>‹#›</a:t>
            </a:fld>
            <a:endParaRPr lang="en-US"/>
          </a:p>
        </p:txBody>
      </p:sp>
    </p:spTree>
    <p:extLst>
      <p:ext uri="{BB962C8B-B14F-4D97-AF65-F5344CB8AC3E}">
        <p14:creationId xmlns:p14="http://schemas.microsoft.com/office/powerpoint/2010/main" val="21795092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450E96-4E3F-DD25-9017-A306B03C1C37}"/>
              </a:ext>
            </a:extLst>
          </p:cNvPr>
          <p:cNvPicPr>
            <a:picLocks noChangeAspect="1"/>
          </p:cNvPicPr>
          <p:nvPr/>
        </p:nvPicPr>
        <p:blipFill>
          <a:blip r:embed="rId2"/>
          <a:stretch>
            <a:fillRect/>
          </a:stretch>
        </p:blipFill>
        <p:spPr bwMode="auto">
          <a:xfrm>
            <a:off x="4475266" y="175041"/>
            <a:ext cx="1780135" cy="1803661"/>
          </a:xfrm>
          <a:prstGeom prst="rect">
            <a:avLst/>
          </a:prstGeom>
        </p:spPr>
      </p:pic>
      <p:graphicFrame>
        <p:nvGraphicFramePr>
          <p:cNvPr id="7" name="Table 6">
            <a:extLst>
              <a:ext uri="{FF2B5EF4-FFF2-40B4-BE49-F238E27FC236}">
                <a16:creationId xmlns:a16="http://schemas.microsoft.com/office/drawing/2014/main" id="{92C1178B-B98C-6532-FF8C-8ECA397819EA}"/>
              </a:ext>
            </a:extLst>
          </p:cNvPr>
          <p:cNvGraphicFramePr>
            <a:graphicFrameLocks noGrp="1"/>
          </p:cNvGraphicFramePr>
          <p:nvPr>
            <p:extLst>
              <p:ext uri="{D42A27DB-BD31-4B8C-83A1-F6EECF244321}">
                <p14:modId xmlns:p14="http://schemas.microsoft.com/office/powerpoint/2010/main" val="4067546312"/>
              </p:ext>
            </p:extLst>
          </p:nvPr>
        </p:nvGraphicFramePr>
        <p:xfrm>
          <a:off x="1618938" y="4452078"/>
          <a:ext cx="7150309" cy="1948720"/>
        </p:xfrm>
        <a:graphic>
          <a:graphicData uri="http://schemas.openxmlformats.org/drawingml/2006/table">
            <a:tbl>
              <a:tblPr firstRow="1" firstCol="1" bandRow="1">
                <a:tableStyleId>{5C22544A-7EE6-4342-B048-85BDC9FD1C3A}</a:tableStyleId>
              </a:tblPr>
              <a:tblGrid>
                <a:gridCol w="684442">
                  <a:extLst>
                    <a:ext uri="{9D8B030D-6E8A-4147-A177-3AD203B41FA5}">
                      <a16:colId xmlns:a16="http://schemas.microsoft.com/office/drawing/2014/main" val="150365122"/>
                    </a:ext>
                  </a:extLst>
                </a:gridCol>
                <a:gridCol w="2889947">
                  <a:extLst>
                    <a:ext uri="{9D8B030D-6E8A-4147-A177-3AD203B41FA5}">
                      <a16:colId xmlns:a16="http://schemas.microsoft.com/office/drawing/2014/main" val="327225220"/>
                    </a:ext>
                  </a:extLst>
                </a:gridCol>
                <a:gridCol w="1787960">
                  <a:extLst>
                    <a:ext uri="{9D8B030D-6E8A-4147-A177-3AD203B41FA5}">
                      <a16:colId xmlns:a16="http://schemas.microsoft.com/office/drawing/2014/main" val="1450103312"/>
                    </a:ext>
                  </a:extLst>
                </a:gridCol>
                <a:gridCol w="1787960">
                  <a:extLst>
                    <a:ext uri="{9D8B030D-6E8A-4147-A177-3AD203B41FA5}">
                      <a16:colId xmlns:a16="http://schemas.microsoft.com/office/drawing/2014/main" val="1382980681"/>
                    </a:ext>
                  </a:extLst>
                </a:gridCol>
              </a:tblGrid>
              <a:tr h="389744">
                <a:tc>
                  <a:txBody>
                    <a:bodyPr/>
                    <a:lstStyle/>
                    <a:p>
                      <a:pPr marL="0" marR="0">
                        <a:lnSpc>
                          <a:spcPct val="150000"/>
                        </a:lnSpc>
                        <a:spcAft>
                          <a:spcPts val="800"/>
                        </a:spcAft>
                        <a:buNone/>
                      </a:pPr>
                      <a:r>
                        <a:rPr lang="en-US" sz="1200" kern="100" dirty="0">
                          <a:effectLst/>
                        </a:rPr>
                        <a:t>S/N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a:effectLst/>
                        </a:rPr>
                        <a:t>NAME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a:effectLst/>
                        </a:rPr>
                        <a:t>REGISTRATION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a:effectLst/>
                        </a:rPr>
                        <a:t>PROGRAMM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4404999"/>
                  </a:ext>
                </a:extLst>
              </a:tr>
              <a:tr h="389744">
                <a:tc>
                  <a:txBody>
                    <a:bodyPr/>
                    <a:lstStyle/>
                    <a:p>
                      <a:pPr marL="0" marR="0">
                        <a:lnSpc>
                          <a:spcPct val="150000"/>
                        </a:lnSpc>
                        <a:spcAft>
                          <a:spcPts val="800"/>
                        </a:spcAft>
                        <a:buNone/>
                      </a:pPr>
                      <a:r>
                        <a:rPr lang="en-US" sz="1200" kern="100">
                          <a:effectLst/>
                        </a:rPr>
                        <a:t>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a:effectLst/>
                        </a:rPr>
                        <a:t>JUMA HOSENI KOKOTO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a:effectLst/>
                        </a:rPr>
                        <a:t>T23-03-17324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a:effectLst/>
                        </a:rPr>
                        <a:t>BSc-CE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6672924"/>
                  </a:ext>
                </a:extLst>
              </a:tr>
              <a:tr h="389744">
                <a:tc>
                  <a:txBody>
                    <a:bodyPr/>
                    <a:lstStyle/>
                    <a:p>
                      <a:pPr marL="0" marR="0">
                        <a:lnSpc>
                          <a:spcPct val="150000"/>
                        </a:lnSpc>
                        <a:spcAft>
                          <a:spcPts val="800"/>
                        </a:spcAft>
                        <a:buNone/>
                      </a:pPr>
                      <a:r>
                        <a:rPr lang="en-US" sz="1200" kern="100">
                          <a:effectLst/>
                        </a:rPr>
                        <a:t>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a:effectLst/>
                        </a:rPr>
                        <a:t>ELIZABETH BERNADO LUCAS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a:effectLst/>
                        </a:rPr>
                        <a:t>T23-03-01199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dirty="0">
                          <a:effectLst/>
                        </a:rPr>
                        <a:t>BSc-CE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51397823"/>
                  </a:ext>
                </a:extLst>
              </a:tr>
              <a:tr h="389744">
                <a:tc>
                  <a:txBody>
                    <a:bodyPr/>
                    <a:lstStyle/>
                    <a:p>
                      <a:pPr marL="0" marR="0">
                        <a:lnSpc>
                          <a:spcPct val="150000"/>
                        </a:lnSpc>
                        <a:spcAft>
                          <a:spcPts val="800"/>
                        </a:spcAft>
                        <a:buNone/>
                      </a:pPr>
                      <a:r>
                        <a:rPr lang="en-US" sz="1200" kern="100">
                          <a:effectLst/>
                        </a:rPr>
                        <a:t>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a:effectLst/>
                        </a:rPr>
                        <a:t>HAPPINESS ANDREW MAPULI</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a:effectLst/>
                        </a:rPr>
                        <a:t>T22-03-07265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a:effectLst/>
                        </a:rPr>
                        <a:t>BSc-CE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77838251"/>
                  </a:ext>
                </a:extLst>
              </a:tr>
              <a:tr h="389744">
                <a:tc>
                  <a:txBody>
                    <a:bodyPr/>
                    <a:lstStyle/>
                    <a:p>
                      <a:pPr marL="0" marR="0">
                        <a:lnSpc>
                          <a:spcPct val="150000"/>
                        </a:lnSpc>
                        <a:spcAft>
                          <a:spcPts val="800"/>
                        </a:spcAft>
                        <a:buNone/>
                      </a:pPr>
                      <a:r>
                        <a:rPr lang="en-US" sz="1200" kern="100">
                          <a:effectLst/>
                        </a:rPr>
                        <a:t>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a:effectLst/>
                        </a:rPr>
                        <a:t>GERVAS MATERU</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a:effectLst/>
                        </a:rPr>
                        <a:t>T23-03-11198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50000"/>
                        </a:lnSpc>
                        <a:spcAft>
                          <a:spcPts val="800"/>
                        </a:spcAft>
                        <a:buNone/>
                      </a:pPr>
                      <a:r>
                        <a:rPr lang="en-US" sz="1200" kern="100" dirty="0">
                          <a:effectLst/>
                        </a:rPr>
                        <a:t>BSc-CE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19381979"/>
                  </a:ext>
                </a:extLst>
              </a:tr>
            </a:tbl>
          </a:graphicData>
        </a:graphic>
      </p:graphicFrame>
      <p:sp>
        <p:nvSpPr>
          <p:cNvPr id="9" name="TextBox 8">
            <a:extLst>
              <a:ext uri="{FF2B5EF4-FFF2-40B4-BE49-F238E27FC236}">
                <a16:creationId xmlns:a16="http://schemas.microsoft.com/office/drawing/2014/main" id="{66A61500-21D6-D521-4B27-36105756ADAC}"/>
              </a:ext>
            </a:extLst>
          </p:cNvPr>
          <p:cNvSpPr txBox="1"/>
          <p:nvPr/>
        </p:nvSpPr>
        <p:spPr>
          <a:xfrm>
            <a:off x="899411" y="1944972"/>
            <a:ext cx="9443802" cy="2507107"/>
          </a:xfrm>
          <a:prstGeom prst="rect">
            <a:avLst/>
          </a:prstGeom>
          <a:noFill/>
        </p:spPr>
        <p:txBody>
          <a:bodyPr wrap="square">
            <a:spAutoFit/>
          </a:bodyPr>
          <a:lstStyle/>
          <a:p>
            <a:pPr marL="0" marR="0" algn="ctr">
              <a:lnSpc>
                <a:spcPct val="115000"/>
              </a:lnSpc>
              <a:spcAft>
                <a:spcPts val="800"/>
              </a:spcAft>
              <a:buNone/>
            </a:pPr>
            <a:r>
              <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rPr>
              <a:t>COLLEGE OF INFORMATICS AND VIRTUAL EDUCATION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r>
              <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rPr>
              <a:t>DEGREE PROGRAMME: BACHELOR OF SCIENCE IN COMPUTER ENGINEERING </a:t>
            </a:r>
          </a:p>
          <a:p>
            <a:pPr marL="0" marR="0" algn="ctr">
              <a:lnSpc>
                <a:spcPct val="115000"/>
              </a:lnSpc>
              <a:spcAft>
                <a:spcPts val="800"/>
              </a:spcAft>
              <a:buNone/>
            </a:pP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rPr>
              <a:t>COURSE NAME:</a:t>
            </a: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kern="100" dirty="0">
                <a:latin typeface="Times New Roman" panose="02020603050405020304" pitchFamily="18" charset="0"/>
                <a:ea typeface="Calibri" panose="020F0502020204030204" pitchFamily="34" charset="0"/>
                <a:cs typeface="Times New Roman" panose="02020603050405020304" pitchFamily="18" charset="0"/>
              </a:rPr>
              <a:t>MICROCONTROLLER</a:t>
            </a: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SYSTEMS.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rPr>
              <a:t>COURSE CODE:</a:t>
            </a: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kern="100" dirty="0">
                <a:latin typeface="Times New Roman" panose="02020603050405020304" pitchFamily="18" charset="0"/>
                <a:ea typeface="Calibri" panose="020F0502020204030204" pitchFamily="34" charset="0"/>
                <a:cs typeface="Times New Roman" panose="02020603050405020304" pitchFamily="18" charset="0"/>
              </a:rPr>
              <a:t>CT</a:t>
            </a: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 321.</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rPr>
              <a:t>GROUP NUMBER: </a:t>
            </a: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6.</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Aft>
                <a:spcPts val="800"/>
              </a:spcAft>
              <a:buNone/>
            </a:pPr>
            <a:r>
              <a:rPr lang="en-US" sz="1400" b="1" kern="100" dirty="0">
                <a:effectLst/>
                <a:latin typeface="Times New Roman" panose="02020603050405020304" pitchFamily="18" charset="0"/>
                <a:ea typeface="Calibri" panose="020F0502020204030204" pitchFamily="34" charset="0"/>
                <a:cs typeface="Times New Roman" panose="02020603050405020304" pitchFamily="18" charset="0"/>
              </a:rPr>
              <a:t>GROUP MEMBERS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63904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2C29E-22A1-7CA8-8B50-40ED6AB7DF43}"/>
              </a:ext>
            </a:extLst>
          </p:cNvPr>
          <p:cNvSpPr>
            <a:spLocks noGrp="1"/>
          </p:cNvSpPr>
          <p:nvPr>
            <p:ph type="ctrTitle"/>
          </p:nvPr>
        </p:nvSpPr>
        <p:spPr>
          <a:xfrm>
            <a:off x="804471" y="1139251"/>
            <a:ext cx="9928486" cy="3627621"/>
          </a:xfrm>
        </p:spPr>
        <p:txBody>
          <a:bodyPr>
            <a:noAutofit/>
          </a:bodyPr>
          <a:lstStyle/>
          <a:p>
            <a:pPr>
              <a:lnSpc>
                <a:spcPct val="150000"/>
              </a:lnSpc>
            </a:pPr>
            <a:r>
              <a:rPr lang="en-US" b="1" dirty="0">
                <a:latin typeface="+mn-lt"/>
                <a:cs typeface="Times New Roman" panose="02020603050405020304" pitchFamily="18" charset="0"/>
              </a:rPr>
              <a:t>Real-Time Clock (RTC) Display System using ATmega32 and I2C/TWI Protocol</a:t>
            </a:r>
          </a:p>
        </p:txBody>
      </p:sp>
    </p:spTree>
    <p:extLst>
      <p:ext uri="{BB962C8B-B14F-4D97-AF65-F5344CB8AC3E}">
        <p14:creationId xmlns:p14="http://schemas.microsoft.com/office/powerpoint/2010/main" val="168940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571E3-92F9-F8FB-F330-38C473775CF5}"/>
              </a:ext>
            </a:extLst>
          </p:cNvPr>
          <p:cNvSpPr>
            <a:spLocks noGrp="1"/>
          </p:cNvSpPr>
          <p:nvPr>
            <p:ph type="title"/>
          </p:nvPr>
        </p:nvSpPr>
        <p:spPr>
          <a:xfrm>
            <a:off x="478436" y="181547"/>
            <a:ext cx="10515600" cy="792814"/>
          </a:xfrm>
        </p:spPr>
        <p:txBody>
          <a:bodyPr>
            <a:normAutofit/>
          </a:bodyPr>
          <a:lstStyle/>
          <a:p>
            <a:pPr algn="ctr"/>
            <a:r>
              <a:rPr lang="en-US" sz="4800" b="1" dirty="0"/>
              <a:t>Project Overview And Objectives</a:t>
            </a:r>
          </a:p>
        </p:txBody>
      </p:sp>
      <p:sp>
        <p:nvSpPr>
          <p:cNvPr id="3" name="Content Placeholder 2">
            <a:extLst>
              <a:ext uri="{FF2B5EF4-FFF2-40B4-BE49-F238E27FC236}">
                <a16:creationId xmlns:a16="http://schemas.microsoft.com/office/drawing/2014/main" id="{F2404A67-CB7F-90CB-9E2E-E73F849DE7D2}"/>
              </a:ext>
            </a:extLst>
          </p:cNvPr>
          <p:cNvSpPr>
            <a:spLocks noGrp="1"/>
          </p:cNvSpPr>
          <p:nvPr>
            <p:ph idx="1"/>
          </p:nvPr>
        </p:nvSpPr>
        <p:spPr>
          <a:xfrm>
            <a:off x="329784" y="1109272"/>
            <a:ext cx="11557416" cy="5567181"/>
          </a:xfrm>
        </p:spPr>
        <p:txBody>
          <a:bodyPr>
            <a:normAutofit/>
          </a:bodyPr>
          <a:lstStyle/>
          <a:p>
            <a:pPr marL="0" indent="0">
              <a:lnSpc>
                <a:spcPct val="150000"/>
              </a:lnSpc>
              <a:buNone/>
            </a:pPr>
            <a:r>
              <a:rPr lang="en-US" sz="3600" b="1" dirty="0">
                <a:latin typeface="Times New Roman" panose="02020603050405020304" pitchFamily="18" charset="0"/>
                <a:cs typeface="Times New Roman" panose="02020603050405020304" pitchFamily="18" charset="0"/>
              </a:rPr>
              <a:t>Main Objective</a:t>
            </a:r>
          </a:p>
          <a:p>
            <a:pPr marL="0" indent="0">
              <a:lnSpc>
                <a:spcPct val="150000"/>
              </a:lnSpc>
              <a:buNone/>
            </a:pPr>
            <a:r>
              <a:rPr lang="en-US" sz="3600" dirty="0">
                <a:latin typeface="Times New Roman" panose="02020603050405020304" pitchFamily="18" charset="0"/>
                <a:cs typeface="Times New Roman" panose="02020603050405020304" pitchFamily="18" charset="0"/>
              </a:rPr>
              <a:t>Design, configure, and simulate a digital clock system that reads real-time parameters (Time &amp; Date) from an external I2C RTC peripheral and displays them dynamically on a 16x2 Character LCD.</a:t>
            </a:r>
          </a:p>
          <a:p>
            <a:pPr marL="0" indent="0">
              <a:buNone/>
            </a:pPr>
            <a:endParaRPr lang="en-US" dirty="0"/>
          </a:p>
        </p:txBody>
      </p:sp>
    </p:spTree>
    <p:extLst>
      <p:ext uri="{BB962C8B-B14F-4D97-AF65-F5344CB8AC3E}">
        <p14:creationId xmlns:p14="http://schemas.microsoft.com/office/powerpoint/2010/main" val="3891428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8356-C44B-59C8-E23F-9D3675259D7F}"/>
              </a:ext>
            </a:extLst>
          </p:cNvPr>
          <p:cNvSpPr>
            <a:spLocks noGrp="1"/>
          </p:cNvSpPr>
          <p:nvPr>
            <p:ph type="title"/>
          </p:nvPr>
        </p:nvSpPr>
        <p:spPr>
          <a:xfrm>
            <a:off x="463446" y="179882"/>
            <a:ext cx="10515600" cy="1645742"/>
          </a:xfrm>
        </p:spPr>
        <p:txBody>
          <a:bodyPr/>
          <a:lstStyle/>
          <a:p>
            <a:r>
              <a:rPr lang="en-US" b="1" dirty="0">
                <a:latin typeface="Times New Roman" panose="02020603050405020304" pitchFamily="18" charset="0"/>
                <a:cs typeface="Times New Roman" panose="02020603050405020304" pitchFamily="18" charset="0"/>
              </a:rPr>
              <a:t>Core System Components:</a:t>
            </a:r>
            <a:br>
              <a:rPr 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C2DC112-3CA6-F990-3EFF-55B47B1B5993}"/>
              </a:ext>
            </a:extLst>
          </p:cNvPr>
          <p:cNvSpPr>
            <a:spLocks noGrp="1"/>
          </p:cNvSpPr>
          <p:nvPr>
            <p:ph idx="1"/>
          </p:nvPr>
        </p:nvSpPr>
        <p:spPr>
          <a:xfrm>
            <a:off x="463446" y="1465860"/>
            <a:ext cx="11123951" cy="4650127"/>
          </a:xfrm>
        </p:spPr>
        <p:txBody>
          <a:bodyPr>
            <a:normAutofit fontScale="85000" lnSpcReduction="20000"/>
          </a:bodyPr>
          <a:lstStyle/>
          <a:p>
            <a:pPr>
              <a:lnSpc>
                <a:spcPct val="150000"/>
              </a:lnSpc>
              <a:buFont typeface="Wingdings" panose="05000000000000000000" pitchFamily="2" charset="2"/>
              <a:buChar char="ü"/>
            </a:pPr>
            <a:r>
              <a:rPr lang="en-US" sz="4000" b="1" dirty="0">
                <a:latin typeface="Times New Roman" panose="02020603050405020304" pitchFamily="18" charset="0"/>
                <a:cs typeface="Times New Roman" panose="02020603050405020304" pitchFamily="18" charset="0"/>
              </a:rPr>
              <a:t>Microcontroller:</a:t>
            </a:r>
            <a:r>
              <a:rPr lang="en-US" sz="4000" dirty="0">
                <a:latin typeface="Times New Roman" panose="02020603050405020304" pitchFamily="18" charset="0"/>
                <a:cs typeface="Times New Roman" panose="02020603050405020304" pitchFamily="18" charset="0"/>
              </a:rPr>
              <a:t> Microchip ATmega32 (8 MHz Internal Oscillator).</a:t>
            </a:r>
          </a:p>
          <a:p>
            <a:pPr>
              <a:lnSpc>
                <a:spcPct val="150000"/>
              </a:lnSpc>
              <a:buFont typeface="Wingdings" panose="05000000000000000000" pitchFamily="2" charset="2"/>
              <a:buChar char="ü"/>
            </a:pPr>
            <a:r>
              <a:rPr lang="en-US" sz="4000" b="1" dirty="0">
                <a:latin typeface="Times New Roman" panose="02020603050405020304" pitchFamily="18" charset="0"/>
                <a:cs typeface="Times New Roman" panose="02020603050405020304" pitchFamily="18" charset="0"/>
              </a:rPr>
              <a:t>Display Module:</a:t>
            </a:r>
            <a:r>
              <a:rPr lang="en-US" sz="4000" dirty="0">
                <a:latin typeface="Times New Roman" panose="02020603050405020304" pitchFamily="18" charset="0"/>
                <a:cs typeface="Times New Roman" panose="02020603050405020304" pitchFamily="18" charset="0"/>
              </a:rPr>
              <a:t> HD44780 16x2 LCD executing in an </a:t>
            </a:r>
            <a:r>
              <a:rPr lang="en-US" sz="4000" b="1" dirty="0">
                <a:latin typeface="Times New Roman" panose="02020603050405020304" pitchFamily="18" charset="0"/>
                <a:cs typeface="Times New Roman" panose="02020603050405020304" pitchFamily="18" charset="0"/>
              </a:rPr>
              <a:t>Optimized 4-Bit Mode</a:t>
            </a:r>
            <a:r>
              <a:rPr lang="en-US" sz="40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Char char="ü"/>
            </a:pPr>
            <a:r>
              <a:rPr lang="en-US" sz="4000" b="1" dirty="0">
                <a:latin typeface="Times New Roman" panose="02020603050405020304" pitchFamily="18" charset="0"/>
                <a:cs typeface="Times New Roman" panose="02020603050405020304" pitchFamily="18" charset="0"/>
              </a:rPr>
              <a:t>Timekeeping Module:</a:t>
            </a:r>
            <a:r>
              <a:rPr lang="en-US" sz="4000" dirty="0">
                <a:latin typeface="Times New Roman" panose="02020603050405020304" pitchFamily="18" charset="0"/>
                <a:cs typeface="Times New Roman" panose="02020603050405020304" pitchFamily="18" charset="0"/>
              </a:rPr>
              <a:t> Bus-configured I2C Real-Time Clock (RTC) Architecture.</a:t>
            </a:r>
          </a:p>
          <a:p>
            <a:endParaRPr lang="en-US" dirty="0"/>
          </a:p>
        </p:txBody>
      </p:sp>
    </p:spTree>
    <p:extLst>
      <p:ext uri="{BB962C8B-B14F-4D97-AF65-F5344CB8AC3E}">
        <p14:creationId xmlns:p14="http://schemas.microsoft.com/office/powerpoint/2010/main" val="1954627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ACB36-B46C-C54C-BA2A-E04DEA811550}"/>
              </a:ext>
            </a:extLst>
          </p:cNvPr>
          <p:cNvSpPr>
            <a:spLocks noGrp="1"/>
          </p:cNvSpPr>
          <p:nvPr>
            <p:ph type="title"/>
          </p:nvPr>
        </p:nvSpPr>
        <p:spPr>
          <a:xfrm>
            <a:off x="238594" y="0"/>
            <a:ext cx="8995348" cy="894048"/>
          </a:xfrm>
        </p:spPr>
        <p:txBody>
          <a:bodyPr/>
          <a:lstStyle/>
          <a:p>
            <a:pPr algn="ctr"/>
            <a:r>
              <a:rPr lang="en-US" dirty="0"/>
              <a:t>System Block Diagram</a:t>
            </a:r>
          </a:p>
        </p:txBody>
      </p:sp>
      <p:pic>
        <p:nvPicPr>
          <p:cNvPr id="4" name="Picture 3">
            <a:extLst>
              <a:ext uri="{FF2B5EF4-FFF2-40B4-BE49-F238E27FC236}">
                <a16:creationId xmlns:a16="http://schemas.microsoft.com/office/drawing/2014/main" id="{1F389E81-0E3E-44C5-8F75-1C3B377597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2393" y="977431"/>
            <a:ext cx="9585554" cy="5717471"/>
          </a:xfrm>
          <a:prstGeom prst="rect">
            <a:avLst/>
          </a:prstGeom>
        </p:spPr>
      </p:pic>
    </p:spTree>
    <p:extLst>
      <p:ext uri="{BB962C8B-B14F-4D97-AF65-F5344CB8AC3E}">
        <p14:creationId xmlns:p14="http://schemas.microsoft.com/office/powerpoint/2010/main" val="1886606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9C61B-47F1-AE73-BC22-F2816D971D12}"/>
              </a:ext>
            </a:extLst>
          </p:cNvPr>
          <p:cNvSpPr>
            <a:spLocks noGrp="1"/>
          </p:cNvSpPr>
          <p:nvPr>
            <p:ph type="title"/>
          </p:nvPr>
        </p:nvSpPr>
        <p:spPr>
          <a:xfrm>
            <a:off x="283564" y="25167"/>
            <a:ext cx="10515600" cy="864068"/>
          </a:xfrm>
        </p:spPr>
        <p:txBody>
          <a:bodyPr>
            <a:noAutofit/>
          </a:bodyPr>
          <a:lstStyle/>
          <a:p>
            <a:r>
              <a:rPr lang="en-US" sz="5400" dirty="0">
                <a:latin typeface="Times New Roman" panose="02020603050405020304" pitchFamily="18" charset="0"/>
                <a:cs typeface="Times New Roman" panose="02020603050405020304" pitchFamily="18" charset="0"/>
              </a:rPr>
              <a:t>Firmware Flow Chart </a:t>
            </a:r>
          </a:p>
        </p:txBody>
      </p:sp>
      <p:pic>
        <p:nvPicPr>
          <p:cNvPr id="5" name="Content Placeholder 4">
            <a:extLst>
              <a:ext uri="{FF2B5EF4-FFF2-40B4-BE49-F238E27FC236}">
                <a16:creationId xmlns:a16="http://schemas.microsoft.com/office/drawing/2014/main" id="{9B64183B-004C-47F0-8DDF-E80FF6665D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54003" y="889235"/>
            <a:ext cx="6395663" cy="5796378"/>
          </a:xfrm>
          <a:prstGeom prst="rect">
            <a:avLst/>
          </a:prstGeom>
        </p:spPr>
      </p:pic>
    </p:spTree>
    <p:extLst>
      <p:ext uri="{BB962C8B-B14F-4D97-AF65-F5344CB8AC3E}">
        <p14:creationId xmlns:p14="http://schemas.microsoft.com/office/powerpoint/2010/main" val="1946300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912C8-2EDC-8702-C131-7AD37C0B266F}"/>
              </a:ext>
            </a:extLst>
          </p:cNvPr>
          <p:cNvSpPr>
            <a:spLocks noGrp="1"/>
          </p:cNvSpPr>
          <p:nvPr>
            <p:ph type="title"/>
          </p:nvPr>
        </p:nvSpPr>
        <p:spPr>
          <a:xfrm>
            <a:off x="98685" y="-89941"/>
            <a:ext cx="10515600" cy="804108"/>
          </a:xfrm>
        </p:spPr>
        <p:txBody>
          <a:bodyPr/>
          <a:lstStyle/>
          <a:p>
            <a:pPr algn="ctr"/>
            <a:r>
              <a:rPr lang="en-US" dirty="0"/>
              <a:t>Schematic Diagram For Our System  </a:t>
            </a:r>
          </a:p>
        </p:txBody>
      </p:sp>
      <p:pic>
        <p:nvPicPr>
          <p:cNvPr id="5" name="Content Placeholder 4">
            <a:extLst>
              <a:ext uri="{FF2B5EF4-FFF2-40B4-BE49-F238E27FC236}">
                <a16:creationId xmlns:a16="http://schemas.microsoft.com/office/drawing/2014/main" id="{1F709C91-2D1D-DD88-65C5-DD84620840A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5501" t="18885" r="33708" b="22220"/>
          <a:stretch>
            <a:fillRect/>
          </a:stretch>
        </p:blipFill>
        <p:spPr>
          <a:xfrm>
            <a:off x="1434059" y="584617"/>
            <a:ext cx="8144656" cy="6123481"/>
          </a:xfrm>
          <a:prstGeom prst="rect">
            <a:avLst/>
          </a:prstGeom>
        </p:spPr>
      </p:pic>
    </p:spTree>
    <p:extLst>
      <p:ext uri="{BB962C8B-B14F-4D97-AF65-F5344CB8AC3E}">
        <p14:creationId xmlns:p14="http://schemas.microsoft.com/office/powerpoint/2010/main" val="1081869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02173-2FDB-8821-3F2A-CA76DEF6F3CF}"/>
              </a:ext>
            </a:extLst>
          </p:cNvPr>
          <p:cNvSpPr>
            <a:spLocks noGrp="1"/>
          </p:cNvSpPr>
          <p:nvPr>
            <p:ph type="title"/>
          </p:nvPr>
        </p:nvSpPr>
        <p:spPr>
          <a:xfrm>
            <a:off x="838200" y="86766"/>
            <a:ext cx="10179570" cy="887595"/>
          </a:xfrm>
        </p:spPr>
        <p:txBody>
          <a:bodyPr>
            <a:normAutofit/>
          </a:bodyPr>
          <a:lstStyle/>
          <a:p>
            <a:pPr algn="ctr"/>
            <a:r>
              <a:rPr lang="en-US" dirty="0">
                <a:latin typeface="Times New Roman" panose="02020603050405020304" pitchFamily="18" charset="0"/>
                <a:cs typeface="Times New Roman" panose="02020603050405020304" pitchFamily="18" charset="0"/>
              </a:rPr>
              <a:t>PCB Editor FootPrint</a:t>
            </a:r>
          </a:p>
        </p:txBody>
      </p:sp>
      <p:pic>
        <p:nvPicPr>
          <p:cNvPr id="5" name="Content Placeholder 4">
            <a:extLst>
              <a:ext uri="{FF2B5EF4-FFF2-40B4-BE49-F238E27FC236}">
                <a16:creationId xmlns:a16="http://schemas.microsoft.com/office/drawing/2014/main" id="{4E83E197-E821-86FA-4410-D40FC64036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9646" y="781754"/>
            <a:ext cx="10980416" cy="5843897"/>
          </a:xfrm>
          <a:prstGeom prst="rect">
            <a:avLst/>
          </a:prstGeom>
        </p:spPr>
      </p:pic>
    </p:spTree>
    <p:extLst>
      <p:ext uri="{BB962C8B-B14F-4D97-AF65-F5344CB8AC3E}">
        <p14:creationId xmlns:p14="http://schemas.microsoft.com/office/powerpoint/2010/main" val="51834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04971-7342-12BA-71A5-2966907C62C2}"/>
              </a:ext>
            </a:extLst>
          </p:cNvPr>
          <p:cNvSpPr>
            <a:spLocks noGrp="1"/>
          </p:cNvSpPr>
          <p:nvPr>
            <p:ph type="title"/>
          </p:nvPr>
        </p:nvSpPr>
        <p:spPr>
          <a:xfrm>
            <a:off x="564004" y="0"/>
            <a:ext cx="11063990" cy="924029"/>
          </a:xfrm>
        </p:spPr>
        <p:txBody>
          <a:bodyPr>
            <a:normAutofit/>
          </a:bodyPr>
          <a:lstStyle/>
          <a:p>
            <a:pPr algn="ctr"/>
            <a:r>
              <a:rPr lang="en-US" sz="5400" dirty="0">
                <a:latin typeface="Times New Roman" panose="02020603050405020304" pitchFamily="18" charset="0"/>
                <a:cs typeface="Times New Roman" panose="02020603050405020304" pitchFamily="18" charset="0"/>
              </a:rPr>
              <a:t>PCB Layout</a:t>
            </a:r>
          </a:p>
        </p:txBody>
      </p:sp>
      <p:pic>
        <p:nvPicPr>
          <p:cNvPr id="5" name="Content Placeholder 4">
            <a:extLst>
              <a:ext uri="{FF2B5EF4-FFF2-40B4-BE49-F238E27FC236}">
                <a16:creationId xmlns:a16="http://schemas.microsoft.com/office/drawing/2014/main" id="{59CC43D6-C33E-0609-3411-8CBFEF9158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9429" y="965872"/>
            <a:ext cx="10453141" cy="5892128"/>
          </a:xfrm>
          <a:prstGeom prst="rect">
            <a:avLst/>
          </a:prstGeom>
        </p:spPr>
      </p:pic>
    </p:spTree>
    <p:extLst>
      <p:ext uri="{BB962C8B-B14F-4D97-AF65-F5344CB8AC3E}">
        <p14:creationId xmlns:p14="http://schemas.microsoft.com/office/powerpoint/2010/main" val="1024767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BC920-5AF0-08DE-5134-563EF4706BD1}"/>
              </a:ext>
            </a:extLst>
          </p:cNvPr>
          <p:cNvSpPr>
            <a:spLocks noGrp="1"/>
          </p:cNvSpPr>
          <p:nvPr>
            <p:ph type="title"/>
          </p:nvPr>
        </p:nvSpPr>
        <p:spPr>
          <a:xfrm>
            <a:off x="639580" y="0"/>
            <a:ext cx="10515600" cy="1136052"/>
          </a:xfrm>
        </p:spPr>
        <p:txBody>
          <a:bodyPr>
            <a:normAutofit/>
          </a:bodyPr>
          <a:lstStyle/>
          <a:p>
            <a:pPr algn="ctr"/>
            <a:r>
              <a:rPr lang="en-US" sz="5400" dirty="0"/>
              <a:t>MPLAB For Vs-code</a:t>
            </a:r>
          </a:p>
        </p:txBody>
      </p:sp>
      <p:pic>
        <p:nvPicPr>
          <p:cNvPr id="5" name="Content Placeholder 4">
            <a:extLst>
              <a:ext uri="{FF2B5EF4-FFF2-40B4-BE49-F238E27FC236}">
                <a16:creationId xmlns:a16="http://schemas.microsoft.com/office/drawing/2014/main" id="{9FAF461E-9784-92FC-3FEB-EFCBE9541763}"/>
              </a:ext>
            </a:extLst>
          </p:cNvPr>
          <p:cNvPicPr>
            <a:picLocks noGrp="1" noChangeAspect="1"/>
          </p:cNvPicPr>
          <p:nvPr>
            <p:ph idx="1"/>
          </p:nvPr>
        </p:nvPicPr>
        <p:blipFill>
          <a:blip r:embed="rId2"/>
          <a:stretch>
            <a:fillRect/>
          </a:stretch>
        </p:blipFill>
        <p:spPr>
          <a:xfrm>
            <a:off x="490174" y="896209"/>
            <a:ext cx="10872369" cy="5786393"/>
          </a:xfrm>
          <a:prstGeom prst="rect">
            <a:avLst/>
          </a:prstGeom>
        </p:spPr>
      </p:pic>
    </p:spTree>
    <p:extLst>
      <p:ext uri="{BB962C8B-B14F-4D97-AF65-F5344CB8AC3E}">
        <p14:creationId xmlns:p14="http://schemas.microsoft.com/office/powerpoint/2010/main" val="3560020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71849-3F90-B974-9640-B543E451D2B9}"/>
              </a:ext>
            </a:extLst>
          </p:cNvPr>
          <p:cNvSpPr>
            <a:spLocks noGrp="1"/>
          </p:cNvSpPr>
          <p:nvPr>
            <p:ph type="title"/>
          </p:nvPr>
        </p:nvSpPr>
        <p:spPr>
          <a:xfrm>
            <a:off x="433465" y="7900"/>
            <a:ext cx="10515600" cy="842663"/>
          </a:xfrm>
        </p:spPr>
        <p:txBody>
          <a:bodyPr>
            <a:normAutofit/>
          </a:bodyPr>
          <a:lstStyle/>
          <a:p>
            <a:pPr algn="ctr"/>
            <a:r>
              <a:rPr lang="en-US" sz="5400" dirty="0">
                <a:latin typeface="Times New Roman" panose="02020603050405020304" pitchFamily="18" charset="0"/>
                <a:cs typeface="Times New Roman" panose="02020603050405020304" pitchFamily="18" charset="0"/>
              </a:rPr>
              <a:t>Simulation Execution Diagram</a:t>
            </a:r>
          </a:p>
        </p:txBody>
      </p:sp>
      <p:pic>
        <p:nvPicPr>
          <p:cNvPr id="5" name="Content Placeholder 4">
            <a:extLst>
              <a:ext uri="{FF2B5EF4-FFF2-40B4-BE49-F238E27FC236}">
                <a16:creationId xmlns:a16="http://schemas.microsoft.com/office/drawing/2014/main" id="{3660F607-3FB0-641A-35B0-E156BC8073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336" y="850563"/>
            <a:ext cx="10944071" cy="5840576"/>
          </a:xfrm>
          <a:prstGeom prst="rect">
            <a:avLst/>
          </a:prstGeom>
        </p:spPr>
      </p:pic>
    </p:spTree>
    <p:extLst>
      <p:ext uri="{BB962C8B-B14F-4D97-AF65-F5344CB8AC3E}">
        <p14:creationId xmlns:p14="http://schemas.microsoft.com/office/powerpoint/2010/main" val="151079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D620F-FC44-9107-5722-9B08CB166B7B}"/>
              </a:ext>
            </a:extLst>
          </p:cNvPr>
          <p:cNvSpPr>
            <a:spLocks noGrp="1"/>
          </p:cNvSpPr>
          <p:nvPr>
            <p:ph type="title"/>
          </p:nvPr>
        </p:nvSpPr>
        <p:spPr/>
        <p:txBody>
          <a:bodyPr>
            <a:noAutofit/>
          </a:bodyPr>
          <a:lstStyle/>
          <a:p>
            <a:r>
              <a:rPr lang="en-US" sz="5400" dirty="0">
                <a:latin typeface="Times New Roman" panose="02020603050405020304" pitchFamily="18" charset="0"/>
                <a:cs typeface="Times New Roman" panose="02020603050405020304" pitchFamily="18" charset="0"/>
              </a:rPr>
              <a:t>Challenges</a:t>
            </a:r>
          </a:p>
        </p:txBody>
      </p:sp>
      <p:sp>
        <p:nvSpPr>
          <p:cNvPr id="4" name="Content Placeholder 3">
            <a:extLst>
              <a:ext uri="{FF2B5EF4-FFF2-40B4-BE49-F238E27FC236}">
                <a16:creationId xmlns:a16="http://schemas.microsoft.com/office/drawing/2014/main" id="{A7FE857E-FFEC-DF25-57E3-188DA6582C62}"/>
              </a:ext>
            </a:extLst>
          </p:cNvPr>
          <p:cNvSpPr>
            <a:spLocks noGrp="1"/>
          </p:cNvSpPr>
          <p:nvPr>
            <p:ph sz="half" idx="1"/>
          </p:nvPr>
        </p:nvSpPr>
        <p:spPr/>
        <p:txBody>
          <a:bodyPr>
            <a:normAutofit lnSpcReduction="10000"/>
          </a:bodyPr>
          <a:lstStyle/>
          <a:p>
            <a:pPr>
              <a:lnSpc>
                <a:spcPct val="150000"/>
              </a:lnSpc>
              <a:buFont typeface="Wingdings" panose="05000000000000000000" pitchFamily="2" charset="2"/>
              <a:buChar char="ü"/>
            </a:pPr>
            <a:r>
              <a:rPr lang="en-US" sz="3600" dirty="0">
                <a:latin typeface="Times New Roman" panose="02020603050405020304" pitchFamily="18" charset="0"/>
                <a:cs typeface="Times New Roman" panose="02020603050405020304" pitchFamily="18" charset="0"/>
              </a:rPr>
              <a:t>LCD wiring </a:t>
            </a:r>
          </a:p>
          <a:p>
            <a:pPr>
              <a:lnSpc>
                <a:spcPct val="150000"/>
              </a:lnSpc>
              <a:buFont typeface="Wingdings" panose="05000000000000000000" pitchFamily="2" charset="2"/>
              <a:buChar char="ü"/>
            </a:pPr>
            <a:r>
              <a:rPr lang="en-US" sz="3600" dirty="0">
                <a:latin typeface="Times New Roman" panose="02020603050405020304" pitchFamily="18" charset="0"/>
                <a:cs typeface="Times New Roman" panose="02020603050405020304" pitchFamily="18" charset="0"/>
              </a:rPr>
              <a:t>SimulIDE power pins </a:t>
            </a:r>
          </a:p>
          <a:p>
            <a:pPr>
              <a:lnSpc>
                <a:spcPct val="150000"/>
              </a:lnSpc>
              <a:buFont typeface="Wingdings" panose="05000000000000000000" pitchFamily="2" charset="2"/>
              <a:buChar char="ü"/>
            </a:pPr>
            <a:r>
              <a:rPr lang="en-US" sz="3600" dirty="0">
                <a:latin typeface="Times New Roman" panose="02020603050405020304" pitchFamily="18" charset="0"/>
                <a:cs typeface="Times New Roman" panose="02020603050405020304" pitchFamily="18" charset="0"/>
              </a:rPr>
              <a:t>Reset circuit </a:t>
            </a:r>
          </a:p>
          <a:p>
            <a:pPr>
              <a:lnSpc>
                <a:spcPct val="150000"/>
              </a:lnSpc>
              <a:buFont typeface="Wingdings" panose="05000000000000000000" pitchFamily="2" charset="2"/>
              <a:buChar char="ü"/>
            </a:pPr>
            <a:r>
              <a:rPr lang="en-US" sz="3600" dirty="0">
                <a:latin typeface="Times New Roman" panose="02020603050405020304" pitchFamily="18" charset="0"/>
                <a:cs typeface="Times New Roman" panose="02020603050405020304" pitchFamily="18" charset="0"/>
              </a:rPr>
              <a:t>AVR compiler configuration </a:t>
            </a:r>
          </a:p>
          <a:p>
            <a:endParaRPr lang="en-US" dirty="0"/>
          </a:p>
        </p:txBody>
      </p:sp>
      <p:sp>
        <p:nvSpPr>
          <p:cNvPr id="5" name="Content Placeholder 4">
            <a:extLst>
              <a:ext uri="{FF2B5EF4-FFF2-40B4-BE49-F238E27FC236}">
                <a16:creationId xmlns:a16="http://schemas.microsoft.com/office/drawing/2014/main" id="{19C13FA1-3BFA-CB78-074F-02901167B9B7}"/>
              </a:ext>
            </a:extLst>
          </p:cNvPr>
          <p:cNvSpPr>
            <a:spLocks noGrp="1"/>
          </p:cNvSpPr>
          <p:nvPr>
            <p:ph sz="half" idx="2"/>
          </p:nvPr>
        </p:nvSpPr>
        <p:spPr/>
        <p:txBody>
          <a:bodyPr>
            <a:normAutofit lnSpcReduction="10000"/>
          </a:bodyPr>
          <a:lstStyle/>
          <a:p>
            <a:pPr>
              <a:lnSpc>
                <a:spcPct val="150000"/>
              </a:lnSpc>
              <a:buFont typeface="Wingdings" panose="05000000000000000000" pitchFamily="2" charset="2"/>
              <a:buChar char="ü"/>
            </a:pPr>
            <a:r>
              <a:rPr lang="en-US" sz="3600" dirty="0">
                <a:latin typeface="Times New Roman" panose="02020603050405020304" pitchFamily="18" charset="0"/>
                <a:cs typeface="Times New Roman" panose="02020603050405020304" pitchFamily="18" charset="0"/>
              </a:rPr>
              <a:t>Missing headers </a:t>
            </a:r>
          </a:p>
          <a:p>
            <a:pPr>
              <a:lnSpc>
                <a:spcPct val="150000"/>
              </a:lnSpc>
              <a:buFont typeface="Wingdings" panose="05000000000000000000" pitchFamily="2" charset="2"/>
              <a:buChar char="ü"/>
            </a:pPr>
            <a:r>
              <a:rPr lang="en-US" sz="3600" dirty="0">
                <a:latin typeface="Times New Roman" panose="02020603050405020304" pitchFamily="18" charset="0"/>
                <a:cs typeface="Times New Roman" panose="02020603050405020304" pitchFamily="18" charset="0"/>
              </a:rPr>
              <a:t>Missing DS1307 library </a:t>
            </a:r>
          </a:p>
          <a:p>
            <a:pPr>
              <a:lnSpc>
                <a:spcPct val="150000"/>
              </a:lnSpc>
              <a:buFont typeface="Wingdings" panose="05000000000000000000" pitchFamily="2" charset="2"/>
              <a:buChar char="ü"/>
            </a:pPr>
            <a:r>
              <a:rPr lang="en-US" sz="3600" dirty="0">
                <a:latin typeface="Times New Roman" panose="02020603050405020304" pitchFamily="18" charset="0"/>
                <a:cs typeface="Times New Roman" panose="02020603050405020304" pitchFamily="18" charset="0"/>
              </a:rPr>
              <a:t>TWI debugging </a:t>
            </a:r>
          </a:p>
          <a:p>
            <a:pPr>
              <a:lnSpc>
                <a:spcPct val="150000"/>
              </a:lnSpc>
              <a:buFont typeface="Wingdings" panose="05000000000000000000" pitchFamily="2" charset="2"/>
              <a:buChar char="ü"/>
            </a:pPr>
            <a:r>
              <a:rPr lang="en-US" sz="3600" dirty="0">
                <a:latin typeface="Times New Roman" panose="02020603050405020304" pitchFamily="18" charset="0"/>
                <a:cs typeface="Times New Roman" panose="02020603050405020304" pitchFamily="18" charset="0"/>
              </a:rPr>
              <a:t>Button debouncing</a:t>
            </a:r>
          </a:p>
          <a:p>
            <a:endParaRPr lang="en-US" dirty="0"/>
          </a:p>
        </p:txBody>
      </p:sp>
    </p:spTree>
    <p:extLst>
      <p:ext uri="{BB962C8B-B14F-4D97-AF65-F5344CB8AC3E}">
        <p14:creationId xmlns:p14="http://schemas.microsoft.com/office/powerpoint/2010/main" val="4268729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D7275-48E1-6A7F-97E3-FC04862086FA}"/>
              </a:ext>
            </a:extLst>
          </p:cNvPr>
          <p:cNvSpPr>
            <a:spLocks noGrp="1"/>
          </p:cNvSpPr>
          <p:nvPr>
            <p:ph type="title"/>
          </p:nvPr>
        </p:nvSpPr>
        <p:spPr/>
        <p:txBody>
          <a:bodyPr>
            <a:normAutofit/>
          </a:bodyPr>
          <a:lstStyle/>
          <a:p>
            <a:r>
              <a:rPr lang="en-US" sz="5400" dirty="0">
                <a:latin typeface="Times New Roman" panose="02020603050405020304" pitchFamily="18" charset="0"/>
                <a:cs typeface="Times New Roman" panose="02020603050405020304" pitchFamily="18" charset="0"/>
              </a:rPr>
              <a:t>Solutions</a:t>
            </a:r>
          </a:p>
        </p:txBody>
      </p:sp>
      <p:sp>
        <p:nvSpPr>
          <p:cNvPr id="3" name="Content Placeholder 2">
            <a:extLst>
              <a:ext uri="{FF2B5EF4-FFF2-40B4-BE49-F238E27FC236}">
                <a16:creationId xmlns:a16="http://schemas.microsoft.com/office/drawing/2014/main" id="{2C081255-D17B-A030-7097-9EB31BFE8D5B}"/>
              </a:ext>
            </a:extLst>
          </p:cNvPr>
          <p:cNvSpPr>
            <a:spLocks noGrp="1"/>
          </p:cNvSpPr>
          <p:nvPr>
            <p:ph sz="half" idx="1"/>
          </p:nvPr>
        </p:nvSpPr>
        <p:spPr>
          <a:xfrm>
            <a:off x="838200" y="1825625"/>
            <a:ext cx="10329472" cy="4667250"/>
          </a:xfrm>
        </p:spPr>
        <p:txBody>
          <a:bodyPr>
            <a:normAutofit/>
          </a:bodyPr>
          <a:lstStyle/>
          <a:p>
            <a:pPr>
              <a:lnSpc>
                <a:spcPct val="150000"/>
              </a:lnSpc>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Modular programming </a:t>
            </a:r>
          </a:p>
          <a:p>
            <a:pPr>
              <a:lnSpc>
                <a:spcPct val="150000"/>
              </a:lnSpc>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Step-by-step testing </a:t>
            </a:r>
          </a:p>
          <a:p>
            <a:pPr>
              <a:lnSpc>
                <a:spcPct val="150000"/>
              </a:lnSpc>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Individual module verification</a:t>
            </a:r>
          </a:p>
        </p:txBody>
      </p:sp>
    </p:spTree>
    <p:extLst>
      <p:ext uri="{BB962C8B-B14F-4D97-AF65-F5344CB8AC3E}">
        <p14:creationId xmlns:p14="http://schemas.microsoft.com/office/powerpoint/2010/main" val="4230072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D515A-B863-9452-A1B6-ED662953E53B}"/>
              </a:ext>
            </a:extLst>
          </p:cNvPr>
          <p:cNvSpPr>
            <a:spLocks noGrp="1"/>
          </p:cNvSpPr>
          <p:nvPr>
            <p:ph type="title"/>
          </p:nvPr>
        </p:nvSpPr>
        <p:spPr>
          <a:xfrm>
            <a:off x="598357" y="0"/>
            <a:ext cx="10515600" cy="969000"/>
          </a:xfrm>
        </p:spPr>
        <p:txBody>
          <a:bodyPr>
            <a:normAutofit/>
          </a:bodyPr>
          <a:lstStyle/>
          <a:p>
            <a:r>
              <a:rPr lang="en-US" sz="54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210EB7B7-66A6-05A2-1B9B-7F4B3B82DEA8}"/>
              </a:ext>
            </a:extLst>
          </p:cNvPr>
          <p:cNvSpPr>
            <a:spLocks noGrp="1"/>
          </p:cNvSpPr>
          <p:nvPr>
            <p:ph idx="1"/>
          </p:nvPr>
        </p:nvSpPr>
        <p:spPr>
          <a:xfrm>
            <a:off x="598357" y="969000"/>
            <a:ext cx="10995286" cy="5356849"/>
          </a:xfrm>
        </p:spPr>
        <p:txBody>
          <a:bodyPr>
            <a:normAutofit/>
          </a:bodyPr>
          <a:lstStyle/>
          <a:p>
            <a:pPr>
              <a:lnSpc>
                <a:spcPct val="1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project successfully developed an embedded real-time clock system using the ATmega32 microcontroller and the DS1307 RTC module. The system accurately reads and displays the current time and date on a 16×2 LCD, allows the user to modify the time through push buttons, stores the updated values in the RTC, and detects communication failures by activating an error LED. The project demonstrates the practical application of I²C communication, modular embedded software design, and hardware interfacing principles.</a:t>
            </a:r>
          </a:p>
        </p:txBody>
      </p:sp>
    </p:spTree>
    <p:extLst>
      <p:ext uri="{BB962C8B-B14F-4D97-AF65-F5344CB8AC3E}">
        <p14:creationId xmlns:p14="http://schemas.microsoft.com/office/powerpoint/2010/main" val="3673936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7BD6D-D587-C13E-1207-DB960C711368}"/>
              </a:ext>
            </a:extLst>
          </p:cNvPr>
          <p:cNvSpPr>
            <a:spLocks noGrp="1"/>
          </p:cNvSpPr>
          <p:nvPr>
            <p:ph type="title"/>
          </p:nvPr>
        </p:nvSpPr>
        <p:spPr>
          <a:xfrm>
            <a:off x="838201" y="365125"/>
            <a:ext cx="10449392" cy="5900764"/>
          </a:xfrm>
        </p:spPr>
        <p:txBody>
          <a:bodyPr>
            <a:normAutofit/>
          </a:bodyPr>
          <a:lstStyle/>
          <a:p>
            <a:r>
              <a:rPr lang="en-US" sz="6000" dirty="0"/>
              <a:t>        </a:t>
            </a:r>
            <a:r>
              <a:rPr lang="en-US" sz="9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549032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TotalTime>
  <Words>296</Words>
  <Application>Microsoft Office PowerPoint</Application>
  <PresentationFormat>Widescreen</PresentationFormat>
  <Paragraphs>58</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Times New Roman</vt:lpstr>
      <vt:lpstr>Wingdings</vt:lpstr>
      <vt:lpstr>Office Theme</vt:lpstr>
      <vt:lpstr>PowerPoint Presentation</vt:lpstr>
      <vt:lpstr>Real-Time Clock (RTC) Display System using ATmega32 and I2C/TWI Protocol</vt:lpstr>
      <vt:lpstr>Project Overview And Objectives</vt:lpstr>
      <vt:lpstr>Core System Components: </vt:lpstr>
      <vt:lpstr>System Block Diagram</vt:lpstr>
      <vt:lpstr>Firmware Flow Chart </vt:lpstr>
      <vt:lpstr>Schematic Diagram For Our System  </vt:lpstr>
      <vt:lpstr>PCB Editor FootPrint</vt:lpstr>
      <vt:lpstr>PCB Layout</vt:lpstr>
      <vt:lpstr>MPLAB For Vs-code</vt:lpstr>
      <vt:lpstr>Simulation Execution Diagram</vt:lpstr>
      <vt:lpstr>Challenges</vt:lpstr>
      <vt:lpstr>Solutions</vt:lpstr>
      <vt:lpstr>Conclusion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juma kokoto</dc:creator>
  <cp:lastModifiedBy>juma kokoto</cp:lastModifiedBy>
  <cp:revision>7</cp:revision>
  <dcterms:created xsi:type="dcterms:W3CDTF">2026-06-30T18:54:24Z</dcterms:created>
  <dcterms:modified xsi:type="dcterms:W3CDTF">2026-07-01T22:56:34Z</dcterms:modified>
</cp:coreProperties>
</file>